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Nurovelle. Prozessanalyse, Softwareentwicklung und KI in einer Hand, aus Marburg.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Einstieg ins Gespräch: nicht fehlende Software ist das Problem, sondern gewachsene Abläufe.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Fünf Muster, die in fast jedem Betrieb auftauchen.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Positionierung: Prozessverständnis plus Softwareentwicklung, nicht KI um der KI willen.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Kernsatz: erst die Aufgabe, dann die Technik.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Potenzialanalyse und Roadmap: der Einstieg vor jeder Umsetzung.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Automationen, Workflows und Agenten: drei Stufen derselben Idee.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Chatbots und Sprachassistenten nehmen wiederkehrende Anfragen 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Datenabgleich schafft die Grundlage, individuelle Software schließt die Lücke.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Governance macht den Einsatz prüfbar, SEO macht das Angebot auffindbar.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Vier Schritte. Jeder schafft Klarheit, bevor der nächste beginnt.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 drei Fragen strukturieren jedes Erstgespräch.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Einstieg kostet nichts. Wert 199 Euro, unverbindlich, keine Folgeverpflichtung.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Deep-Analyse: 555 Euro Einführungspreis bis 31.12.2026, danach 699 Euro, netto zzgl. 19 Prozent MwSt.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Drei Pakete je Branche, jeweils Einrichtung plus 69 Euro monatlich, auf eigenem Server in Deutschland.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vier Fragen, die im Erstkontakt am häufigsten kommen.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Kontakt: Tino Schneider, mail@nurovelle.de, 06421 8097347, nurovelle.de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alphaModFix amt="78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223760" cy="6858000"/>
          </a:xfrm>
          <a:prstGeom prst="rect">
            <a:avLst/>
          </a:prstGeom>
          <a:solidFill>
            <a:srgbClr val="050505">
              <a:alpha val="78000"/>
            </a:srgbClr>
          </a:solidFill>
          <a:ln w="12700">
            <a:solidFill>
              <a:srgbClr val="050505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914400"/>
            <a:ext cx="749808" cy="603504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6192" y="1033272"/>
            <a:ext cx="1828800" cy="42062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40080" y="1965960"/>
            <a:ext cx="6309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KI-Systeme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Unternehmen</a:t>
            </a:r>
            <a:endParaRPr lang="en-US" sz="4600" dirty="0"/>
          </a:p>
        </p:txBody>
      </p:sp>
      <p:sp>
        <p:nvSpPr>
          <p:cNvPr id="7" name="Text 2"/>
          <p:cNvSpPr txBox="1"/>
          <p:nvPr/>
        </p:nvSpPr>
        <p:spPr>
          <a:xfrm>
            <a:off x="640080" y="39776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Prozessanalyse, Softwareentwicklung und KI-Technologie — verbunden zu einer Lösung für eine klar definierte Aufgabe.</a:t>
            </a:r>
            <a:endParaRPr lang="en-US" sz="1500" dirty="0"/>
          </a:p>
        </p:txBody>
      </p:sp>
      <p:sp>
        <p:nvSpPr>
          <p:cNvPr id="8" name="Text 3"/>
          <p:cNvSpPr txBox="1"/>
          <p:nvPr/>
        </p:nvSpPr>
        <p:spPr>
          <a:xfrm>
            <a:off x="640080" y="5852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Tino Schneider</a:t>
            </a:r>
            <a:pPr indent="0" marL="0">
              <a:buNone/>
            </a:pPr>
            <a:r>
              <a:rPr lang="en-US" sz="115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Berliner Straße 12, 35039 Marburg    nurovelle.de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0"/>
            <a:ext cx="109087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Aufwand steckt</a:t>
            </a:r>
            <a:endParaRPr lang="en-US" sz="50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selten in der Technik.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steckt in Abläufen, die über Jahre gewachsen sind.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926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AUSGANGSLAGE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96"/>
              </a:lnSpc>
              <a:buNone/>
            </a:pPr>
            <a:r>
              <a:rPr lang="en-US" sz="33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Fünf Muster, die immer wiederkehren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0253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26F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Prozesse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2103120"/>
            <a:ext cx="7251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Hoher Zeitverlust durch manuelle Tätigkeiten.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6207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26F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9169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2962656"/>
            <a:ext cx="7251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Daten- und Wissensmanagement ist der Engpass.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7216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26F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7764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3822192"/>
            <a:ext cx="7251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Fehlende Integration verhindert Automatisierung.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58114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26F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46360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KI-Einsatz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4681728"/>
            <a:ext cx="7251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Große Chancen durch strukturierte Einführung.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440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26F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54955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Wachstum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5541264"/>
            <a:ext cx="7251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Wachstum erzeugt überproportionalen Aufwand.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alphaModFix amt="82000"/>
          </a:blip>
          <a:stretch>
            <a:fillRect/>
          </a:stretch>
        </p:blipFill>
        <p:spPr>
          <a:xfrm>
            <a:off x="0" y="0"/>
            <a:ext cx="512064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00584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926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NUROVELLE IST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5669280" y="141732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Technik mit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Systemverständnis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669280" y="320040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Nurovelle verbindet Prozessanalyse, Softwareentwicklung und KI-Technologie zu einer funktionalen Lösung für eine klar definierte Aufgabe.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ist dabei kein Selbstzweck: Vor jeder Umsetzung werden Nutzen, Datenlage, technische Machbarkeit und notwendige Kontrollen geprüft. Ist eine einfachere Lösung geeigneter, wird keine unnötige KI-Komplexität aufgebaut.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669280" y="1051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926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NUROVELLE IST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>
              <a:alpha val="55000"/>
            </a:srgbClr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40080" y="246888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7E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 folgt der Aufgabe.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794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nach Anforderung entsteht ein KI-Agent, ein Workflow, ein Datenabgleich, ein Wissenssystem oder eine individuelle Software — nicht umgekehrt.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926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LEISTUNGEN · ANALYSE UND STRATEGIE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96"/>
              </a:lnSpc>
              <a:buNone/>
            </a:pPr>
            <a:r>
              <a:rPr lang="en-US" sz="33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Erst wissen, wo es sich lohnt</a:t>
            </a:r>
            <a:endParaRPr lang="en-US" sz="3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860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926080"/>
            <a:ext cx="52715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Potenzialanalyse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429000"/>
            <a:ext cx="52715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Chancen erkennen und priorisieren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023360"/>
            <a:ext cx="52715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Prozessaufnahme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Daten- und Systemprüfung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Maßnahmenpriorisierung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394960"/>
            <a:ext cx="52715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26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KLARE POTENZIALÜBERSICHT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356" y="22860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277356" y="2926080"/>
            <a:ext cx="52715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KI-Roadmap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6277356" y="3429000"/>
            <a:ext cx="52715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Idee zum belastbaren Plan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277356" y="4023360"/>
            <a:ext cx="52715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KI-Strategie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Projektplanung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Umsetzungsfahrplan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6277356" y="5394960"/>
            <a:ext cx="52715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26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REALISTISCHE ROADMAP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926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LEISTUNGEN · AUTOMATISIERUNG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96"/>
              </a:lnSpc>
              <a:buNone/>
            </a:pPr>
            <a:r>
              <a:rPr lang="en-US" sz="33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 abgeben, Kontrolle behalten</a:t>
            </a:r>
            <a:endParaRPr lang="en-US" sz="3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31720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92608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KI-Automationen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34670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Helfer für den Arbeitsalltag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114800"/>
            <a:ext cx="3209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Büro und Verwaltung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Baustelle und Außendienst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Personal und Einarbeitung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2331720"/>
            <a:ext cx="420624" cy="42062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489704" y="292608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KI-Workflows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4489704" y="334670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Prozesse verbinden und entlasten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4489704" y="4114800"/>
            <a:ext cx="3209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Wiederkehrende Aufgaben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Freigaben und Übergaben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Verbundene Systeme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28" y="2331720"/>
            <a:ext cx="420624" cy="4206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339328" y="292608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KI-Agenten</a:t>
            </a:r>
            <a:endParaRPr lang="en-US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8339328" y="3346704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Aufgaben abgeben, Kontrolle behalten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8339328" y="4114800"/>
            <a:ext cx="3209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Aufgabensteuerung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Recherche / Auswertung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Mehrstufige Abläufe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926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LEISTUNGEN · KOMMUNIKATION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96"/>
              </a:lnSpc>
              <a:buNone/>
            </a:pPr>
            <a:r>
              <a:rPr lang="en-US" sz="33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Erreichbar, ohne Personal zu binden</a:t>
            </a:r>
            <a:endParaRPr lang="en-US" sz="3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317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926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Chatbots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4015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Anfragen sofort beantworten, rund um die Uhr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1148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Kundenanfragen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Interner Wissenszugriff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Vorqualifizierung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4290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583680" y="4023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Sprachassistenten</a:t>
            </a:r>
            <a:endParaRPr lang="en-US" sz="2300" dirty="0"/>
          </a:p>
        </p:txBody>
      </p:sp>
      <p:sp>
        <p:nvSpPr>
          <p:cNvPr id="10" name="Text 6"/>
          <p:cNvSpPr txBox="1"/>
          <p:nvPr/>
        </p:nvSpPr>
        <p:spPr>
          <a:xfrm>
            <a:off x="6583680" y="44988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Anrufe automatisch entgegennehmen und weiterleiten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583680" y="52120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Telefonische Anfragen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Terminvereinbarung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Strukturierte Erstaufnahme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6858000" y="0"/>
            <a:ext cx="5330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56692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926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LEISTUNGEN · DATEN UND SOFTWARE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9144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24"/>
              </a:lnSpc>
              <a:buNone/>
            </a:pPr>
            <a:r>
              <a:rPr lang="en-US" sz="27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Verlässliche Grundlage, passende Systeme</a:t>
            </a:r>
            <a:endParaRPr lang="en-US" sz="2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14600"/>
            <a:ext cx="402336" cy="40233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43584" y="25328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Daten-Abgleich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30815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Verlässliche Daten ohne manuellen Abgleich</a:t>
            </a:r>
            <a:endParaRPr lang="en-US" sz="135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35204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Dokumentenverarbeitung  ·  Datenextraktion  ·  Abgleich und Prüfung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389120"/>
            <a:ext cx="402336" cy="40233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243584" y="44074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KI-Software</a:t>
            </a:r>
            <a:endParaRPr lang="en-US" sz="2000" dirty="0"/>
          </a:p>
        </p:txBody>
      </p:sp>
      <p:sp>
        <p:nvSpPr>
          <p:cNvPr id="11" name="Text 6"/>
          <p:cNvSpPr txBox="1"/>
          <p:nvPr/>
        </p:nvSpPr>
        <p:spPr>
          <a:xfrm>
            <a:off x="640080" y="49560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Maßgeschneiderte Systeme statt Insellösungen</a:t>
            </a:r>
            <a:endParaRPr lang="en-US" sz="1350" dirty="0"/>
          </a:p>
        </p:txBody>
      </p:sp>
      <p:sp>
        <p:nvSpPr>
          <p:cNvPr id="12" name="Text 7"/>
          <p:cNvSpPr txBox="1"/>
          <p:nvPr/>
        </p:nvSpPr>
        <p:spPr>
          <a:xfrm>
            <a:off x="640080" y="53949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Individuelle Anwendungen  ·  Externe Schnittstellen  ·  CRM- und ERP-Anbindung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926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LEISTUNGEN · SICHERHEIT UND SICHTBARKEIT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96"/>
              </a:lnSpc>
              <a:buNone/>
            </a:pPr>
            <a:r>
              <a:rPr lang="en-US" sz="33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Kontrolliert einsetzen, gefunden werden</a:t>
            </a:r>
            <a:endParaRPr lang="en-US" sz="3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68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24963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KI-Governance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29992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Bereit für Prüfung und Audit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766560" y="2423160"/>
            <a:ext cx="4782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Zugriffsregeln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Freigabeprozesse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Datenschutz und Prüfung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3891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44165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SEO-Systeme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1371600" y="49194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 Sichtbarkeit, mit Substanz statt Ratespiel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766560" y="4343400"/>
            <a:ext cx="4782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Keywordanalyse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Technische SEO-Prüfung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Content-Strukturen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926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PROJEKTABLAUF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96"/>
              </a:lnSpc>
              <a:buNone/>
            </a:pPr>
            <a:r>
              <a:rPr lang="en-US" sz="33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Strukturiertes Vorgehen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90981" y="2642616"/>
            <a:ext cx="1682496" cy="1005840"/>
          </a:xfrm>
          <a:prstGeom prst="diamond">
            <a:avLst/>
          </a:prstGeom>
          <a:solidFill>
            <a:srgbClr val="926F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0981" y="2514600"/>
            <a:ext cx="1682496" cy="1005840"/>
          </a:xfrm>
          <a:prstGeom prst="diamond">
            <a:avLst/>
          </a:prstGeom>
          <a:solidFill>
            <a:srgbClr val="050505"/>
          </a:solidFill>
          <a:ln w="19050">
            <a:solidFill>
              <a:srgbClr val="F7EF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90981" y="2770632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7E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977640"/>
            <a:ext cx="2384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43400"/>
            <a:ext cx="23842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 und gewünschtes Ergebnis festlegen.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832479" y="2642616"/>
            <a:ext cx="1682496" cy="1005840"/>
          </a:xfrm>
          <a:prstGeom prst="diamond">
            <a:avLst/>
          </a:prstGeom>
          <a:solidFill>
            <a:srgbClr val="926F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32479" y="2514600"/>
            <a:ext cx="1682496" cy="1005840"/>
          </a:xfrm>
          <a:prstGeom prst="diamond">
            <a:avLst/>
          </a:prstGeom>
          <a:solidFill>
            <a:srgbClr val="050505"/>
          </a:solidFill>
          <a:ln w="19050">
            <a:solidFill>
              <a:srgbClr val="F7EF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32479" y="2770632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7E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3481578" y="3977640"/>
            <a:ext cx="2384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Prozess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81578" y="4343400"/>
            <a:ext cx="23842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Abläufe, Engpässe und Zuständigkeiten prüfen.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73977" y="2642616"/>
            <a:ext cx="1682496" cy="1005840"/>
          </a:xfrm>
          <a:prstGeom prst="diamond">
            <a:avLst/>
          </a:prstGeom>
          <a:solidFill>
            <a:srgbClr val="926F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3977" y="2514600"/>
            <a:ext cx="1682496" cy="1005840"/>
          </a:xfrm>
          <a:prstGeom prst="diamond">
            <a:avLst/>
          </a:prstGeom>
          <a:solidFill>
            <a:srgbClr val="050505"/>
          </a:solidFill>
          <a:ln w="19050">
            <a:solidFill>
              <a:srgbClr val="F7EF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3977" y="2770632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7E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6323076" y="3977640"/>
            <a:ext cx="2384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23076" y="4343400"/>
            <a:ext cx="23842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Quellen, Qualität und Zugriffe bewerten.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515475" y="2642616"/>
            <a:ext cx="1682496" cy="1005840"/>
          </a:xfrm>
          <a:prstGeom prst="diamond">
            <a:avLst/>
          </a:prstGeom>
          <a:solidFill>
            <a:srgbClr val="926F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15475" y="2514600"/>
            <a:ext cx="1682496" cy="1005840"/>
          </a:xfrm>
          <a:prstGeom prst="diamond">
            <a:avLst/>
          </a:prstGeom>
          <a:solidFill>
            <a:srgbClr val="050505"/>
          </a:solidFill>
          <a:ln w="19050">
            <a:solidFill>
              <a:srgbClr val="F7EF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515475" y="2770632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7E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9164574" y="3977640"/>
            <a:ext cx="2384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Lösung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164574" y="4343400"/>
            <a:ext cx="23842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technischen Weg festlegen und umsetzen.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926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 ERSTES KI-PROJEKT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96"/>
              </a:lnSpc>
              <a:buNone/>
            </a:pPr>
            <a:r>
              <a:rPr lang="en-US" sz="33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Fragen klären den Anfang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5856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26F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2331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Prozess klären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2350008"/>
            <a:ext cx="6611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Welcher Geschäftsprozess verbessert werden soll und welches konkrete Ergebnis durch KI entstehen muss.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55701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26F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36301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 prüfen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3648456"/>
            <a:ext cx="6611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Daten, Systeme und Wissensquellen bereits vorhanden sind und technisch nutzbar gemacht werden können.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85546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26F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49286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Umsetzung planen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4946904"/>
            <a:ext cx="6611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 ein KI-Agent, ein Wissenssystem, Automatisierung oder individuelle Software der sinnvolle nächste Schritt ist.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alphaModFix amt="68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>
              <a:alpha val="60000"/>
            </a:srgbClr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40080" y="56692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926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EINSTIEG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960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Potenzialanalyse</a:t>
            </a:r>
            <a:endParaRPr lang="en-US" sz="3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03120"/>
            <a:ext cx="3108960" cy="19202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trike="sngStrike" dirty="0">
                <a:solidFill>
                  <a:srgbClr val="5A3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199 €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257860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A1F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0 €</a:t>
            </a:r>
            <a:endParaRPr lang="en-US" sz="54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3611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5A3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UNVERBINDLICH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4297680" y="2240280"/>
            <a:ext cx="72511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Bewertung</a:t>
            </a:r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KI- und Automatisierungspotenzials in Ihren Abläufen.
</a:t>
            </a:r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Voraussetzungen und Hindernisse</a:t>
            </a:r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die einer Umsetzung im Weg stehen.
</a:t>
            </a:r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Priorisierung und Empfehlung</a:t>
            </a:r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für den sinnvollen nächsten Schritt.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448056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allgemeine KI-Ideenliste, sondern eine auf Ihre Angaben bezogene Ersteinschätzung. Es entsteht keine automatische Folgeverpflichtung.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926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ES TIEFER GEHEN SOLL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96"/>
              </a:lnSpc>
              <a:buNone/>
            </a:pPr>
            <a:r>
              <a:rPr lang="en-US" sz="33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Deep-Potenzialanalyse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4884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555 €</a:t>
            </a:r>
            <a:endParaRPr lang="en-US" sz="76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3429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statt </a:t>
            </a:r>
            <a:pPr indent="0" marL="0">
              <a:buNone/>
            </a:pPr>
            <a:r>
              <a:rPr lang="en-US" sz="1500" strike="sngStrike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699 €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404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Einführungspreis für Anfragen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31.12.2026. Netto zzgl. 19 % MwSt.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22402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 je Bereich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258775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den Befunden aus Ihren Prozessen, Daten und Systemen.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32004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Risikobewertung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354787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 Datenschutz, Informationssicherheit und nötigen Freigaben.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41605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Handlungsempfehlungen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450799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Handlungsfeld, einschließlich vorbereitender Arbeiten.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51206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Priorisierung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546811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Anwendungsfälle nach Nutzen, Aufwand, Risiko und Reife.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926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96"/>
              </a:lnSpc>
              <a:buNone/>
            </a:pPr>
            <a:r>
              <a:rPr lang="en-US" sz="33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Fertige Einstiege je Branche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3380232" cy="3108960"/>
          </a:xfrm>
          <a:prstGeom prst="roundRect">
            <a:avLst>
              <a:gd name="adj" fmla="val 1765"/>
            </a:avLst>
          </a:prstGeom>
          <a:solidFill>
            <a:srgbClr val="050505"/>
          </a:solidFill>
          <a:ln w="12700">
            <a:solidFill>
              <a:srgbClr val="926F3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2551176"/>
            <a:ext cx="2795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Handwerk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3044952"/>
            <a:ext cx="2795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Regieberichte, Material, Abnahmen, Prüffristen.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886200"/>
            <a:ext cx="2795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799 €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4507992"/>
            <a:ext cx="2795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Einrichtung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4818888"/>
            <a:ext cx="2795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69 € </a:t>
            </a:r>
            <a:pPr indent="0" marL="0">
              <a:buNone/>
            </a:pPr>
            <a:r>
              <a:rPr lang="en-US" sz="11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Monat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404360" y="2240280"/>
            <a:ext cx="3380232" cy="3108960"/>
          </a:xfrm>
          <a:prstGeom prst="roundRect">
            <a:avLst>
              <a:gd name="adj" fmla="val 1765"/>
            </a:avLst>
          </a:prstGeom>
          <a:solidFill>
            <a:srgbClr val="0C1712"/>
          </a:solidFill>
          <a:ln w="25400">
            <a:solidFill>
              <a:srgbClr val="DFBD6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96968" y="2551176"/>
            <a:ext cx="2795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Büro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96968" y="3044952"/>
            <a:ext cx="2795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Posteingang, Bewertungen, internes Wissen, Onboarding.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696968" y="3886200"/>
            <a:ext cx="2795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399 €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4696968" y="4507992"/>
            <a:ext cx="2795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Einrichtung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696968" y="4818888"/>
            <a:ext cx="2795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69 € </a:t>
            </a:r>
            <a:pPr indent="0" marL="0">
              <a:buNone/>
            </a:pPr>
            <a:r>
              <a:rPr lang="en-US" sz="11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Monat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404360" y="1929384"/>
            <a:ext cx="338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DF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MEISTGEWÄHLT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68640" y="2240280"/>
            <a:ext cx="3380232" cy="3108960"/>
          </a:xfrm>
          <a:prstGeom prst="roundRect">
            <a:avLst>
              <a:gd name="adj" fmla="val 1765"/>
            </a:avLst>
          </a:prstGeom>
          <a:solidFill>
            <a:srgbClr val="050505"/>
          </a:solidFill>
          <a:ln w="12700">
            <a:solidFill>
              <a:srgbClr val="926F3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61248" y="2551176"/>
            <a:ext cx="2795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Betreuung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461248" y="3044952"/>
            <a:ext cx="2795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nicht-medizinische Betreuung und Alltagsbegleitung.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461248" y="3886200"/>
            <a:ext cx="2795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799 €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8461248" y="4507992"/>
            <a:ext cx="2795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Einrichtung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461248" y="4818888"/>
            <a:ext cx="2795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69 € </a:t>
            </a:r>
            <a:pPr indent="0" marL="0">
              <a:buNone/>
            </a:pPr>
            <a:r>
              <a:rPr lang="en-US" sz="11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Monat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6235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Betrieb auf Ihrem eigenen Server in Deutschland. Es entsteht keine automatische Folgeverpflichtung.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926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HÄUFIGE FRAGEN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96"/>
              </a:lnSpc>
              <a:buNone/>
            </a:pPr>
            <a:r>
              <a:rPr lang="en-US" sz="33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Interessenten meistens wissen wollen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51343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Muss ich bereits eine konkrete KI-Idee haben?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52928"/>
            <a:ext cx="51343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Nein. Die Potenzialanalyse eignet sich auch dann, wenn zunächst nur ein zeitaufwendiger oder fehleranfälliger Prozess bekannt ist. Gemeinsam wird geprüft, ob KI, Automatisierung, Software oder eine andere Pro…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414516" y="2286000"/>
            <a:ext cx="51343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welche Unternehmen eignet sich das Angebot?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414516" y="2852928"/>
            <a:ext cx="51343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Angebot richtet sich an Unternehmen, die wiederkehrende Abläufe verbessern, Informationen schneller nutzbar machen oder bestehende Systeme sinnvoll verbinden möchten. Entscheidend ist nicht die Unternehme…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160520"/>
            <a:ext cx="51343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Können bestehende Systeme angebunden werden?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727448"/>
            <a:ext cx="51343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Grundsätzlich ja, sofern geeignete Schnittstellen, Datenzugriffe oder technische Integrationsmöglichkeiten vorhanden sind. Vor der Umsetzung wird geprüft, welche Systeme beteiligt sind und welche Anbindung re…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14516" y="4160520"/>
            <a:ext cx="51343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lange dauert die Umsetzung?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414516" y="4727448"/>
            <a:ext cx="51343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hängt vom Umfang, der Datenlage, den beteiligten Systemen und dem Integrationsaufwand ab. Eine klar abgegrenzte Automatisierung kann deutlich schneller umgesetzt werden als ein komplexes System mit mehrer…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alphaModFix amt="74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050505">
              <a:alpha val="74000"/>
            </a:srgbClr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40080" y="56692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926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05156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Sprechen wir über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Ihre Abläufe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0175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26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ANSPRECHPARTNER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3291840" y="296265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Tino Schneider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7673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26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3291840" y="371246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mail@nurovelle.de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51713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26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3291840" y="44622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06421 8097347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526694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26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3291840" y="52120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nurovelle.de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6172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Nurovelle · Berliner Straße 12 · 35039 Marburg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Nurovelle Unternehmenspräsentation</dc:title>
  <dc:subject>PptxGenJS Presentation</dc:subject>
  <dc:creator>Nurovelle</dc:creator>
  <cp:lastModifiedBy>Nurovelle</cp:lastModifiedBy>
  <cp:revision>1</cp:revision>
  <dcterms:created xsi:type="dcterms:W3CDTF">2026-09-01T14:40:31Z</dcterms:created>
  <dcterms:modified xsi:type="dcterms:W3CDTF">2026-09-01T14:40:31Z</dcterms:modified>
</cp:coreProperties>
</file>