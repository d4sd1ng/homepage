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Nurovelle, Einzelunternehmen von Tino Schneider in Marburg. Prozessanalyse, Softwareentwicklung und KI in einer Hand.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Fünf wiederkehrende Muster aus der Praxis: Prozesse, Daten, Systeme, KI-Einsatz, Wachstum.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Vier Zusagen: klare Entscheidungen, passende Technologie, weniger Insellösungen, kontrollierte Umsetzung.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Elf Leistungsbereiche, die als ein System zusammenspielen statt als Einzelprodukte.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Sechs Bausteine, die in jedem Projekt zusammenkommen.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Vier Schritte von der Aufgabe bis zur Umsetzung. Jeder Schritt schafft Klarheit, bevor der nächste beginnt.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Kostenlose Potenzialanalyse als Einstieg, danach drei Pakete je Branche. Betrieb auf eigenem Server in Deutschland.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Deep-Potenzialanalyse: 555 Euro Einführungspreis für Anfragen bis 31.12.2026, danach 699 Euro. Netto zzgl. 19 Prozent Mehrwertsteuer.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Kontakt: Tino Schneider, mail@nurovelle.de, 06421 8097347, nurovelle.de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65000"/>
          </a:blip>
          <a:stretch>
            <a:fillRect/>
          </a:stretch>
        </p:blipFill>
        <p:spPr>
          <a:xfrm>
            <a:off x="6766560" y="0"/>
            <a:ext cx="539496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777240" cy="62179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170432"/>
            <a:ext cx="1920240" cy="438912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502920" y="201168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KI-Systeme</a:t>
            </a:r>
            <a:endParaRPr lang="en-US" sz="4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für Unternehmen</a:t>
            </a:r>
            <a:endParaRPr lang="en-US" sz="4400" dirty="0"/>
          </a:p>
        </p:txBody>
      </p:sp>
      <p:sp>
        <p:nvSpPr>
          <p:cNvPr id="6" name="Text 1"/>
          <p:cNvSpPr txBox="1"/>
          <p:nvPr/>
        </p:nvSpPr>
        <p:spPr>
          <a:xfrm>
            <a:off x="502920" y="38862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Prozessanalyse, Softwareentwicklung und KI-Technologie — verbunden zu einer Lösung für eine klar definierte Aufgabe.</a:t>
            </a:r>
            <a:endParaRPr lang="en-US" sz="1600" dirty="0"/>
          </a:p>
        </p:txBody>
      </p:sp>
      <p:sp>
        <p:nvSpPr>
          <p:cNvPr id="7" name="Text 2"/>
          <p:cNvSpPr txBox="1"/>
          <p:nvPr/>
        </p:nvSpPr>
        <p:spPr>
          <a:xfrm>
            <a:off x="502920" y="5257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Tino Schneider</a:t>
            </a:r>
            <a:pPr indent="0" marL="0">
              <a:buNone/>
            </a:pPr>
            <a:r>
              <a:rPr lang="en-US" sz="12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Berliner Straße 12, 35039 Marburg     nurovelle.de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835640" y="29260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26F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26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AUSGANGSLAGE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Aufwand steckt selten in der Technik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745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Potenzial liegt selten in fehlender Software, sondern in Abläufen, die über Jahre gewachsen sind. Fünf Muster tauchen immer wieder auf.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3063240"/>
            <a:ext cx="2048256" cy="1737360"/>
          </a:xfrm>
          <a:prstGeom prst="roundRect">
            <a:avLst>
              <a:gd name="adj" fmla="val 4211"/>
            </a:avLst>
          </a:prstGeom>
          <a:solidFill>
            <a:srgbClr val="080B09"/>
          </a:solidFill>
          <a:ln w="9525">
            <a:solidFill>
              <a:srgbClr val="926F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" y="320954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Prozesse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49224" y="3502152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Zeitverlust durch Handarbeit.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79776" y="3063240"/>
            <a:ext cx="2048256" cy="1737360"/>
          </a:xfrm>
          <a:prstGeom prst="roundRect">
            <a:avLst>
              <a:gd name="adj" fmla="val 4211"/>
            </a:avLst>
          </a:prstGeom>
          <a:solidFill>
            <a:srgbClr val="080B09"/>
          </a:solidFill>
          <a:ln w="9525">
            <a:solidFill>
              <a:srgbClr val="926F3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26080" y="320954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2926080" y="3502152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Wissen ist der Engpass.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56632" y="3063240"/>
            <a:ext cx="2048256" cy="1737360"/>
          </a:xfrm>
          <a:prstGeom prst="roundRect">
            <a:avLst>
              <a:gd name="adj" fmla="val 4211"/>
            </a:avLst>
          </a:prstGeom>
          <a:solidFill>
            <a:srgbClr val="080B09"/>
          </a:solidFill>
          <a:ln w="9525">
            <a:solidFill>
              <a:srgbClr val="926F3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02936" y="320954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202936" y="3502152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Fehlende Integration bremst.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33488" y="3063240"/>
            <a:ext cx="2048256" cy="1737360"/>
          </a:xfrm>
          <a:prstGeom prst="roundRect">
            <a:avLst>
              <a:gd name="adj" fmla="val 4211"/>
            </a:avLst>
          </a:prstGeom>
          <a:solidFill>
            <a:srgbClr val="080B09"/>
          </a:solidFill>
          <a:ln w="9525">
            <a:solidFill>
              <a:srgbClr val="926F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79792" y="320954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KI-Einsatz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7479792" y="3502152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Chancen durch klare Einführung.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10344" y="3063240"/>
            <a:ext cx="2048256" cy="1737360"/>
          </a:xfrm>
          <a:prstGeom prst="roundRect">
            <a:avLst>
              <a:gd name="adj" fmla="val 4211"/>
            </a:avLst>
          </a:prstGeom>
          <a:solidFill>
            <a:srgbClr val="080B09"/>
          </a:solidFill>
          <a:ln w="9525">
            <a:solidFill>
              <a:srgbClr val="926F3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756648" y="3209544"/>
            <a:ext cx="1755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Wachstum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9756648" y="3502152"/>
            <a:ext cx="17556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Wachstum kostet mehr Aufwand.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B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835640" y="29260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26F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26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ANSATZ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 folgt der Aufgabe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745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Jedes Projekt wird fachlich und technisch betrachtet. So entstehen keine isolierten KI-Lösungen ohne stabile Prozessgrundlage. Ist eine einfachere Lösung geeigneter, wird keine unnötige KI-Komplexität aufgebaut.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3200400"/>
            <a:ext cx="2583180" cy="2011680"/>
          </a:xfrm>
          <a:prstGeom prst="roundRect">
            <a:avLst>
              <a:gd name="adj" fmla="val 3636"/>
            </a:avLst>
          </a:prstGeom>
          <a:solidFill>
            <a:srgbClr val="050505"/>
          </a:solidFill>
          <a:ln w="9525">
            <a:solidFill>
              <a:srgbClr val="926F34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3346704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49224" y="3712464"/>
            <a:ext cx="2290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Klare Entscheidungen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649224" y="4005072"/>
            <a:ext cx="22905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Anforderungen werden vor der Umsetzung geprüft.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60420" y="3200400"/>
            <a:ext cx="2583180" cy="2011680"/>
          </a:xfrm>
          <a:prstGeom prst="roundRect">
            <a:avLst>
              <a:gd name="adj" fmla="val 3636"/>
            </a:avLst>
          </a:prstGeom>
          <a:solidFill>
            <a:srgbClr val="050505"/>
          </a:solidFill>
          <a:ln w="9525">
            <a:solidFill>
              <a:srgbClr val="926F34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6724" y="3346704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06724" y="3712464"/>
            <a:ext cx="2290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Passende Technologie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3506724" y="4005072"/>
            <a:ext cx="22905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Lösung richtet sich nach Aufgabe und Nutzen.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3200400"/>
            <a:ext cx="2583180" cy="2011680"/>
          </a:xfrm>
          <a:prstGeom prst="roundRect">
            <a:avLst>
              <a:gd name="adj" fmla="val 3636"/>
            </a:avLst>
          </a:prstGeom>
          <a:solidFill>
            <a:srgbClr val="050505"/>
          </a:solidFill>
          <a:ln w="9525">
            <a:solidFill>
              <a:srgbClr val="926F3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3346704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64224" y="3712464"/>
            <a:ext cx="2290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Weniger Insellösungen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6364224" y="4005072"/>
            <a:ext cx="22905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Bestehende Systeme werden verbunden.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9075420" y="3200400"/>
            <a:ext cx="2583180" cy="2011680"/>
          </a:xfrm>
          <a:prstGeom prst="roundRect">
            <a:avLst>
              <a:gd name="adj" fmla="val 3636"/>
            </a:avLst>
          </a:prstGeom>
          <a:solidFill>
            <a:srgbClr val="050505"/>
          </a:solidFill>
          <a:ln w="9525">
            <a:solidFill>
              <a:srgbClr val="926F34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1724" y="3346704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221724" y="3712464"/>
            <a:ext cx="22905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Kontrollierte Umsetzung</a:t>
            </a:r>
            <a:endParaRPr lang="en-US" sz="1350" dirty="0"/>
          </a:p>
        </p:txBody>
      </p:sp>
      <p:sp>
        <p:nvSpPr>
          <p:cNvPr id="21" name="Text 15"/>
          <p:cNvSpPr txBox="1"/>
          <p:nvPr/>
        </p:nvSpPr>
        <p:spPr>
          <a:xfrm>
            <a:off x="9221724" y="4005072"/>
            <a:ext cx="22905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Zugriffe, Aktionen und Freigaben bleiben begrenzt.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835640" y="29260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26F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26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LEISTUNGEN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Elf Bereiche, ein System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624328" cy="1371600"/>
          </a:xfrm>
          <a:prstGeom prst="roundRect">
            <a:avLst>
              <a:gd name="adj" fmla="val 5333"/>
            </a:avLst>
          </a:prstGeom>
          <a:solidFill>
            <a:srgbClr val="080B09"/>
          </a:solidFill>
          <a:ln w="9525">
            <a:solidFill>
              <a:srgbClr val="926F34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112264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9224" y="24780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Potenzialanalyse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9224" y="277063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Chancen erkennen und priorisieren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346704" y="1965960"/>
            <a:ext cx="2624328" cy="1371600"/>
          </a:xfrm>
          <a:prstGeom prst="roundRect">
            <a:avLst>
              <a:gd name="adj" fmla="val 5333"/>
            </a:avLst>
          </a:prstGeom>
          <a:solidFill>
            <a:srgbClr val="080B09"/>
          </a:solidFill>
          <a:ln w="9525">
            <a:solidFill>
              <a:srgbClr val="926F3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3008" y="211226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93008" y="24780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KI-Roadmap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3493008" y="277063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der Idee zum belastbaren Plan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190488" y="1965960"/>
            <a:ext cx="2624328" cy="1371600"/>
          </a:xfrm>
          <a:prstGeom prst="roundRect">
            <a:avLst>
              <a:gd name="adj" fmla="val 5333"/>
            </a:avLst>
          </a:prstGeom>
          <a:solidFill>
            <a:srgbClr val="080B09"/>
          </a:solidFill>
          <a:ln w="9525">
            <a:solidFill>
              <a:srgbClr val="926F34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2112264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336792" y="24780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KI-Agenten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6336792" y="277063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Aufgaben abgeben, Kontrolle behalten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9034272" y="1965960"/>
            <a:ext cx="2624328" cy="1371600"/>
          </a:xfrm>
          <a:prstGeom prst="roundRect">
            <a:avLst>
              <a:gd name="adj" fmla="val 5333"/>
            </a:avLst>
          </a:prstGeom>
          <a:solidFill>
            <a:srgbClr val="080B09"/>
          </a:solidFill>
          <a:ln w="9525">
            <a:solidFill>
              <a:srgbClr val="926F34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0576" y="2112264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180576" y="247802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Chatbots</a:t>
            </a:r>
            <a:endParaRPr lang="en-US" sz="1350" dirty="0"/>
          </a:p>
        </p:txBody>
      </p:sp>
      <p:sp>
        <p:nvSpPr>
          <p:cNvPr id="20" name="Text 14"/>
          <p:cNvSpPr txBox="1"/>
          <p:nvPr/>
        </p:nvSpPr>
        <p:spPr>
          <a:xfrm>
            <a:off x="9180576" y="277063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Anfragen sofort beantworten, rund um die Uhr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02920" y="3538728"/>
            <a:ext cx="2624328" cy="1371600"/>
          </a:xfrm>
          <a:prstGeom prst="roundRect">
            <a:avLst>
              <a:gd name="adj" fmla="val 5333"/>
            </a:avLst>
          </a:prstGeom>
          <a:solidFill>
            <a:srgbClr val="080B09"/>
          </a:solidFill>
          <a:ln w="9525">
            <a:solidFill>
              <a:srgbClr val="926F34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3685032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49224" y="40507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Sprachassistenten</a:t>
            </a:r>
            <a:endParaRPr lang="en-US" sz="1350" dirty="0"/>
          </a:p>
        </p:txBody>
      </p:sp>
      <p:sp>
        <p:nvSpPr>
          <p:cNvPr id="24" name="Text 17"/>
          <p:cNvSpPr txBox="1"/>
          <p:nvPr/>
        </p:nvSpPr>
        <p:spPr>
          <a:xfrm>
            <a:off x="649224" y="4343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Anrufe automatisch entgegennehmen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3346704" y="3538728"/>
            <a:ext cx="2624328" cy="1371600"/>
          </a:xfrm>
          <a:prstGeom prst="roundRect">
            <a:avLst>
              <a:gd name="adj" fmla="val 5333"/>
            </a:avLst>
          </a:prstGeom>
          <a:solidFill>
            <a:srgbClr val="080B09"/>
          </a:solidFill>
          <a:ln w="9525">
            <a:solidFill>
              <a:srgbClr val="926F34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93008" y="3685032"/>
            <a:ext cx="274320" cy="27432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3493008" y="40507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KI-Automationen</a:t>
            </a:r>
            <a:endParaRPr lang="en-US" sz="1350" dirty="0"/>
          </a:p>
        </p:txBody>
      </p:sp>
      <p:sp>
        <p:nvSpPr>
          <p:cNvPr id="28" name="Text 20"/>
          <p:cNvSpPr txBox="1"/>
          <p:nvPr/>
        </p:nvSpPr>
        <p:spPr>
          <a:xfrm>
            <a:off x="3493008" y="4343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Helfer für den Arbeitsalltag</a:t>
            </a:r>
            <a:endParaRPr lang="en-US" sz="1100" dirty="0"/>
          </a:p>
        </p:txBody>
      </p:sp>
      <p:sp>
        <p:nvSpPr>
          <p:cNvPr id="29" name="Shape 21"/>
          <p:cNvSpPr/>
          <p:nvPr/>
        </p:nvSpPr>
        <p:spPr>
          <a:xfrm>
            <a:off x="6190488" y="3538728"/>
            <a:ext cx="2624328" cy="1371600"/>
          </a:xfrm>
          <a:prstGeom prst="roundRect">
            <a:avLst>
              <a:gd name="adj" fmla="val 5333"/>
            </a:avLst>
          </a:prstGeom>
          <a:solidFill>
            <a:srgbClr val="080B09"/>
          </a:solidFill>
          <a:ln w="9525">
            <a:solidFill>
              <a:srgbClr val="926F34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36792" y="3685032"/>
            <a:ext cx="274320" cy="27432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6336792" y="40507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KI-Governance</a:t>
            </a:r>
            <a:endParaRPr lang="en-US" sz="1350" dirty="0"/>
          </a:p>
        </p:txBody>
      </p:sp>
      <p:sp>
        <p:nvSpPr>
          <p:cNvPr id="32" name="Text 23"/>
          <p:cNvSpPr txBox="1"/>
          <p:nvPr/>
        </p:nvSpPr>
        <p:spPr>
          <a:xfrm>
            <a:off x="6336792" y="4343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Bereit für Prüfung und Audit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9034272" y="3538728"/>
            <a:ext cx="2624328" cy="1371600"/>
          </a:xfrm>
          <a:prstGeom prst="roundRect">
            <a:avLst>
              <a:gd name="adj" fmla="val 5333"/>
            </a:avLst>
          </a:prstGeom>
          <a:solidFill>
            <a:srgbClr val="080B09"/>
          </a:solidFill>
          <a:ln w="9525">
            <a:solidFill>
              <a:srgbClr val="926F34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80576" y="3685032"/>
            <a:ext cx="274320" cy="274320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9180576" y="405079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KI-Workflows</a:t>
            </a:r>
            <a:endParaRPr lang="en-US" sz="1350" dirty="0"/>
          </a:p>
        </p:txBody>
      </p:sp>
      <p:sp>
        <p:nvSpPr>
          <p:cNvPr id="36" name="Text 26"/>
          <p:cNvSpPr txBox="1"/>
          <p:nvPr/>
        </p:nvSpPr>
        <p:spPr>
          <a:xfrm>
            <a:off x="9180576" y="4343400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Prozesse verbinden und entlasten</a:t>
            </a:r>
            <a:endParaRPr lang="en-US" sz="1100" dirty="0"/>
          </a:p>
        </p:txBody>
      </p:sp>
      <p:sp>
        <p:nvSpPr>
          <p:cNvPr id="37" name="Shape 27"/>
          <p:cNvSpPr/>
          <p:nvPr/>
        </p:nvSpPr>
        <p:spPr>
          <a:xfrm>
            <a:off x="502920" y="5111496"/>
            <a:ext cx="2624328" cy="1371600"/>
          </a:xfrm>
          <a:prstGeom prst="roundRect">
            <a:avLst>
              <a:gd name="adj" fmla="val 5333"/>
            </a:avLst>
          </a:prstGeom>
          <a:solidFill>
            <a:srgbClr val="080B09"/>
          </a:solidFill>
          <a:ln w="9525">
            <a:solidFill>
              <a:srgbClr val="926F34"/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" y="5257800"/>
            <a:ext cx="274320" cy="274320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649224" y="5623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Daten-Abgleich</a:t>
            </a:r>
            <a:endParaRPr lang="en-US" sz="1350" dirty="0"/>
          </a:p>
        </p:txBody>
      </p:sp>
      <p:sp>
        <p:nvSpPr>
          <p:cNvPr id="40" name="Text 29"/>
          <p:cNvSpPr txBox="1"/>
          <p:nvPr/>
        </p:nvSpPr>
        <p:spPr>
          <a:xfrm>
            <a:off x="649224" y="591616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Verlässliche Daten ohne manuellen Abgleich</a:t>
            </a:r>
            <a:endParaRPr lang="en-US" sz="1100" dirty="0"/>
          </a:p>
        </p:txBody>
      </p:sp>
      <p:sp>
        <p:nvSpPr>
          <p:cNvPr id="41" name="Shape 30"/>
          <p:cNvSpPr/>
          <p:nvPr/>
        </p:nvSpPr>
        <p:spPr>
          <a:xfrm>
            <a:off x="3346704" y="5111496"/>
            <a:ext cx="2624328" cy="1371600"/>
          </a:xfrm>
          <a:prstGeom prst="roundRect">
            <a:avLst>
              <a:gd name="adj" fmla="val 5333"/>
            </a:avLst>
          </a:prstGeom>
          <a:solidFill>
            <a:srgbClr val="080B09"/>
          </a:solidFill>
          <a:ln w="9525">
            <a:solidFill>
              <a:srgbClr val="926F34"/>
            </a:solidFill>
            <a:prstDash val="solid"/>
          </a:ln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93008" y="5257800"/>
            <a:ext cx="274320" cy="274320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3493008" y="5623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KI-Software</a:t>
            </a:r>
            <a:endParaRPr lang="en-US" sz="1350" dirty="0"/>
          </a:p>
        </p:txBody>
      </p:sp>
      <p:sp>
        <p:nvSpPr>
          <p:cNvPr id="44" name="Text 32"/>
          <p:cNvSpPr txBox="1"/>
          <p:nvPr/>
        </p:nvSpPr>
        <p:spPr>
          <a:xfrm>
            <a:off x="3493008" y="591616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Maßgeschneiderte Systeme statt Insellösungen</a:t>
            </a:r>
            <a:endParaRPr lang="en-US" sz="1100" dirty="0"/>
          </a:p>
        </p:txBody>
      </p:sp>
      <p:sp>
        <p:nvSpPr>
          <p:cNvPr id="45" name="Shape 33"/>
          <p:cNvSpPr/>
          <p:nvPr/>
        </p:nvSpPr>
        <p:spPr>
          <a:xfrm>
            <a:off x="6190488" y="5111496"/>
            <a:ext cx="2624328" cy="1371600"/>
          </a:xfrm>
          <a:prstGeom prst="roundRect">
            <a:avLst>
              <a:gd name="adj" fmla="val 5333"/>
            </a:avLst>
          </a:prstGeom>
          <a:solidFill>
            <a:srgbClr val="080B09"/>
          </a:solidFill>
          <a:ln w="9525">
            <a:solidFill>
              <a:srgbClr val="926F34"/>
            </a:solidFill>
            <a:prstDash val="solid"/>
          </a:ln>
        </p:spPr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36792" y="5257800"/>
            <a:ext cx="274320" cy="274320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6336792" y="5623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SEO-Systeme</a:t>
            </a:r>
            <a:endParaRPr lang="en-US" sz="1350" dirty="0"/>
          </a:p>
        </p:txBody>
      </p:sp>
      <p:sp>
        <p:nvSpPr>
          <p:cNvPr id="48" name="Text 35"/>
          <p:cNvSpPr txBox="1"/>
          <p:nvPr/>
        </p:nvSpPr>
        <p:spPr>
          <a:xfrm>
            <a:off x="6336792" y="591616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 Sichtbarkeit, mit Substanz statt Ratespiel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B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835640" y="29260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26F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26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NUROVELLE VERBINDET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Prozesse, Daten, Systeme und Umsetzung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87452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nach Anforderung entsteht ein KI-Agent, Workflow, Datenabgleich, Wissenssystem oder eine individuelle Software — nicht umgekehrt.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926080"/>
            <a:ext cx="3535680" cy="1417320"/>
          </a:xfrm>
          <a:prstGeom prst="roundRect">
            <a:avLst>
              <a:gd name="adj" fmla="val 5161"/>
            </a:avLst>
          </a:prstGeom>
          <a:solidFill>
            <a:srgbClr val="050505"/>
          </a:solidFill>
          <a:ln w="9525">
            <a:solidFill>
              <a:srgbClr val="926F3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9224" y="3072384"/>
            <a:ext cx="3243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Prozesse verstehen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49224" y="3364992"/>
            <a:ext cx="3243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Abläufe und Zuständigkeiten werden erfasst, bevor Technik gewählt wird.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12920" y="2926080"/>
            <a:ext cx="3535680" cy="1417320"/>
          </a:xfrm>
          <a:prstGeom prst="roundRect">
            <a:avLst>
              <a:gd name="adj" fmla="val 5161"/>
            </a:avLst>
          </a:prstGeom>
          <a:solidFill>
            <a:srgbClr val="050505"/>
          </a:solidFill>
          <a:ln w="9525">
            <a:solidFill>
              <a:srgbClr val="926F3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59224" y="3072384"/>
            <a:ext cx="3243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KI-Einsatz bewerten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459224" y="3364992"/>
            <a:ext cx="3243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Nutzen, Datenlage und Machbarkeit werden vorab geprüft.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22920" y="2926080"/>
            <a:ext cx="3535680" cy="1417320"/>
          </a:xfrm>
          <a:prstGeom prst="roundRect">
            <a:avLst>
              <a:gd name="adj" fmla="val 5161"/>
            </a:avLst>
          </a:prstGeom>
          <a:solidFill>
            <a:srgbClr val="050505"/>
          </a:solidFill>
          <a:ln w="9525">
            <a:solidFill>
              <a:srgbClr val="926F3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69224" y="3072384"/>
            <a:ext cx="3243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 prüfen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8269224" y="3364992"/>
            <a:ext cx="3243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Quellen, Qualität und Zugriffe bestimmen, was möglich ist.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4572000"/>
            <a:ext cx="3535680" cy="1417320"/>
          </a:xfrm>
          <a:prstGeom prst="roundRect">
            <a:avLst>
              <a:gd name="adj" fmla="val 5161"/>
            </a:avLst>
          </a:prstGeom>
          <a:solidFill>
            <a:srgbClr val="050505"/>
          </a:solidFill>
          <a:ln w="9525">
            <a:solidFill>
              <a:srgbClr val="926F3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9224" y="4718304"/>
            <a:ext cx="3243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Systeme verbinden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49224" y="5010912"/>
            <a:ext cx="3243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Bestehende Anwendungen werden angebunden statt ersetzt.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12920" y="4572000"/>
            <a:ext cx="3535680" cy="1417320"/>
          </a:xfrm>
          <a:prstGeom prst="roundRect">
            <a:avLst>
              <a:gd name="adj" fmla="val 5161"/>
            </a:avLst>
          </a:prstGeom>
          <a:solidFill>
            <a:srgbClr val="050505"/>
          </a:solidFill>
          <a:ln w="9525">
            <a:solidFill>
              <a:srgbClr val="926F3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459224" y="4718304"/>
            <a:ext cx="3243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 entwickeln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459224" y="5010912"/>
            <a:ext cx="3243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Fehlt eine passende Lösung, wird sie gebaut.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22920" y="4572000"/>
            <a:ext cx="3535680" cy="1417320"/>
          </a:xfrm>
          <a:prstGeom prst="roundRect">
            <a:avLst>
              <a:gd name="adj" fmla="val 5161"/>
            </a:avLst>
          </a:prstGeom>
          <a:solidFill>
            <a:srgbClr val="050505"/>
          </a:solidFill>
          <a:ln w="9525">
            <a:solidFill>
              <a:srgbClr val="926F3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69224" y="4718304"/>
            <a:ext cx="3243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Umsetzung steuern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269224" y="5010912"/>
            <a:ext cx="3243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Zugriffe, Aktionen und Freigaben bleiben begrenzt.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835640" y="29260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26F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26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PROJEKTABLAUF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Strukturiertes Vorgehen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91540" y="2487168"/>
            <a:ext cx="1737360" cy="1051560"/>
          </a:xfrm>
          <a:prstGeom prst="diamond">
            <a:avLst/>
          </a:prstGeom>
          <a:solidFill>
            <a:srgbClr val="926F34"/>
          </a:solidFill>
          <a:ln w="12700">
            <a:solidFill>
              <a:srgbClr val="926F3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1540" y="2377440"/>
            <a:ext cx="1737360" cy="1051560"/>
          </a:xfrm>
          <a:prstGeom prst="diamond">
            <a:avLst/>
          </a:prstGeom>
          <a:solidFill>
            <a:srgbClr val="080B09"/>
          </a:solidFill>
          <a:ln w="19050">
            <a:solidFill>
              <a:srgbClr val="F7EF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1540" y="26334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E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7947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Aufgabe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41605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Ziel und gewünschtes Ergebnis festlegen.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771900" y="2487168"/>
            <a:ext cx="1737360" cy="1051560"/>
          </a:xfrm>
          <a:prstGeom prst="diamond">
            <a:avLst/>
          </a:prstGeom>
          <a:solidFill>
            <a:srgbClr val="926F34"/>
          </a:solidFill>
          <a:ln w="12700">
            <a:solidFill>
              <a:srgbClr val="926F3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71900" y="2377440"/>
            <a:ext cx="1737360" cy="1051560"/>
          </a:xfrm>
          <a:prstGeom prst="diamond">
            <a:avLst/>
          </a:prstGeom>
          <a:solidFill>
            <a:srgbClr val="080B09"/>
          </a:solidFill>
          <a:ln w="19050">
            <a:solidFill>
              <a:srgbClr val="F7EF8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71900" y="26334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E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37947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Prozess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41605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Abläufe, Engpässe und Zuständigkeiten prüfen.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652260" y="2487168"/>
            <a:ext cx="1737360" cy="1051560"/>
          </a:xfrm>
          <a:prstGeom prst="diamond">
            <a:avLst/>
          </a:prstGeom>
          <a:solidFill>
            <a:srgbClr val="926F34"/>
          </a:solidFill>
          <a:ln w="12700">
            <a:solidFill>
              <a:srgbClr val="926F3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52260" y="2377440"/>
            <a:ext cx="1737360" cy="1051560"/>
          </a:xfrm>
          <a:prstGeom prst="diamond">
            <a:avLst/>
          </a:prstGeom>
          <a:solidFill>
            <a:srgbClr val="080B09"/>
          </a:solidFill>
          <a:ln w="19050">
            <a:solidFill>
              <a:srgbClr val="F7EF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652260" y="26334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E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37947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263640" y="41605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Quellen, Qualität und Zugriffe bewerten.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532620" y="2487168"/>
            <a:ext cx="1737360" cy="1051560"/>
          </a:xfrm>
          <a:prstGeom prst="diamond">
            <a:avLst/>
          </a:prstGeom>
          <a:solidFill>
            <a:srgbClr val="926F34"/>
          </a:solidFill>
          <a:ln w="12700">
            <a:solidFill>
              <a:srgbClr val="926F3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32620" y="2377440"/>
            <a:ext cx="1737360" cy="1051560"/>
          </a:xfrm>
          <a:prstGeom prst="diamond">
            <a:avLst/>
          </a:prstGeom>
          <a:solidFill>
            <a:srgbClr val="080B09"/>
          </a:solidFill>
          <a:ln w="19050">
            <a:solidFill>
              <a:srgbClr val="F7EF8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32620" y="263347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7E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379476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Lösung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0" y="416052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technischen Weg festlegen und umsetzen.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B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835640" y="29260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26F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26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 UND PAKETE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Erst prüfen, dann umsetzen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2286000" cy="1508760"/>
          </a:xfrm>
          <a:prstGeom prst="roundRect">
            <a:avLst>
              <a:gd name="adj" fmla="val 6061"/>
            </a:avLst>
          </a:prstGeom>
          <a:solidFill>
            <a:srgbClr val="050505"/>
          </a:solidFill>
          <a:ln w="12700">
            <a:solidFill>
              <a:srgbClr val="926F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trike="sngStrike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199 €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2860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0 €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9992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26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POTENZIALANALYSE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063240" y="1965960"/>
            <a:ext cx="8595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 Bewertung</a:t>
            </a:r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KI- und Automatisierungspotenzials in Ihren Abläufen.</a:t>
            </a:r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Voraussetzungen und Hindernisse</a:t>
            </a:r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die einer Umsetzung im Weg stehen.</a:t>
            </a:r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Priorisierung und Empfehlung</a:t>
            </a:r>
            <a:pPr indent="0" marL="0">
              <a:lnSpc>
                <a:spcPts val="2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für den sinnvollen nächsten Schritt.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3749040"/>
            <a:ext cx="3535680" cy="1828800"/>
          </a:xfrm>
          <a:prstGeom prst="roundRect">
            <a:avLst>
              <a:gd name="adj" fmla="val 4000"/>
            </a:avLst>
          </a:prstGeom>
          <a:solidFill>
            <a:srgbClr val="050505"/>
          </a:solidFill>
          <a:ln w="9525">
            <a:solidFill>
              <a:srgbClr val="926F3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" y="3895344"/>
            <a:ext cx="3243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Handwerk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49224" y="4187952"/>
            <a:ext cx="3243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Regieberichte, Material, Abnahmen, Prüffristen.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" y="5074920"/>
            <a:ext cx="3243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Einrichtung  </a:t>
            </a:r>
            <a:pPr indent="0" marL="0">
              <a:buNone/>
            </a:pPr>
            <a:r>
              <a:rPr lang="en-US" sz="1400" b="1" dirty="0">
                <a:solidFill>
                  <a:srgbClr val="F5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799 €</a:t>
            </a:r>
            <a:pPr indent="0" marL="0">
              <a:buNone/>
            </a:pPr>
            <a:r>
              <a:rPr lang="en-US" sz="10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je Monat  </a:t>
            </a:r>
            <a:pPr indent="0" marL="0">
              <a:buNone/>
            </a:pPr>
            <a:r>
              <a:rPr lang="en-US" sz="1400" b="1" dirty="0">
                <a:solidFill>
                  <a:srgbClr val="F5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69 €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12920" y="3749040"/>
            <a:ext cx="3535680" cy="1828800"/>
          </a:xfrm>
          <a:prstGeom prst="roundRect">
            <a:avLst>
              <a:gd name="adj" fmla="val 4000"/>
            </a:avLst>
          </a:prstGeom>
          <a:solidFill>
            <a:srgbClr val="050505"/>
          </a:solidFill>
          <a:ln w="9525">
            <a:solidFill>
              <a:srgbClr val="926F3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59224" y="3895344"/>
            <a:ext cx="3243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Büro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459224" y="4187952"/>
            <a:ext cx="3243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Posteingang, Bewertungen, internes Wissen, Onboarding.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459224" y="5074920"/>
            <a:ext cx="3243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Einrichtung  </a:t>
            </a:r>
            <a:pPr indent="0" marL="0">
              <a:buNone/>
            </a:pPr>
            <a:r>
              <a:rPr lang="en-US" sz="1400" b="1" dirty="0">
                <a:solidFill>
                  <a:srgbClr val="F5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399 €</a:t>
            </a:r>
            <a:pPr indent="0" marL="0">
              <a:buNone/>
            </a:pPr>
            <a:r>
              <a:rPr lang="en-US" sz="10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je Monat  </a:t>
            </a:r>
            <a:pPr indent="0" marL="0">
              <a:buNone/>
            </a:pPr>
            <a:r>
              <a:rPr lang="en-US" sz="1400" b="1" dirty="0">
                <a:solidFill>
                  <a:srgbClr val="F5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69 €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22920" y="3749040"/>
            <a:ext cx="3535680" cy="1828800"/>
          </a:xfrm>
          <a:prstGeom prst="roundRect">
            <a:avLst>
              <a:gd name="adj" fmla="val 4000"/>
            </a:avLst>
          </a:prstGeom>
          <a:solidFill>
            <a:srgbClr val="050505"/>
          </a:solidFill>
          <a:ln w="9525">
            <a:solidFill>
              <a:srgbClr val="926F3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69224" y="3895344"/>
            <a:ext cx="3243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Betreuung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8269224" y="4187952"/>
            <a:ext cx="3243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nicht-medizinische Betreuung und Alltagsbegleitung.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69224" y="5074920"/>
            <a:ext cx="3243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Einrichtung  </a:t>
            </a:r>
            <a:pPr indent="0" marL="0">
              <a:buNone/>
            </a:pPr>
            <a:r>
              <a:rPr lang="en-US" sz="1400" b="1" dirty="0">
                <a:solidFill>
                  <a:srgbClr val="F5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799 €</a:t>
            </a:r>
            <a:pPr indent="0" marL="0">
              <a:buNone/>
            </a:pPr>
            <a:r>
              <a:rPr lang="en-US" sz="10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je Monat  </a:t>
            </a:r>
            <a:pPr indent="0" marL="0">
              <a:buNone/>
            </a:pPr>
            <a:r>
              <a:rPr lang="en-US" sz="1400" b="1" dirty="0">
                <a:solidFill>
                  <a:srgbClr val="F5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69 €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571500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Betrieb auf Ihrem eigenen Server in Deutschland. Es entsteht keine automatische Folgeverpflichtung.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835640" y="29260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26F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5029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26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ES TIEFER GEHEN SOLL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Deep-Potenzialanalyse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2743200" cy="1828800"/>
          </a:xfrm>
          <a:prstGeom prst="roundRect">
            <a:avLst>
              <a:gd name="adj" fmla="val 5000"/>
            </a:avLst>
          </a:prstGeom>
          <a:solidFill>
            <a:srgbClr val="080B09"/>
          </a:solidFill>
          <a:ln w="12700">
            <a:solidFill>
              <a:srgbClr val="926F3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22860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trike="sngStrike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699 €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6060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555 €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3456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26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EINFÜHRUNGSPREIS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2148840"/>
            <a:ext cx="8092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Auswertung je Bereich</a:t>
            </a:r>
            <a:pPr indent="0" marL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mit den Befunden aus Ihren Prozessen, Daten und Systemen.</a:t>
            </a:r>
            <a:pPr indent="0" marL="0">
              <a:lnSpc>
                <a:spcPts val="2000"/>
              </a:lnSpc>
              <a:spcAft>
                <a:spcPts val="700"/>
              </a:spcAft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Risikobewertung</a:t>
            </a:r>
            <a:pPr indent="0" marL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zu Datenschutz, Informationssicherheit und nötigen Freigaben.</a:t>
            </a:r>
            <a:pPr indent="0" marL="0">
              <a:lnSpc>
                <a:spcPts val="2000"/>
              </a:lnSpc>
              <a:spcAft>
                <a:spcPts val="700"/>
              </a:spcAft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Handlungsempfehlungen</a:t>
            </a:r>
            <a:pPr indent="0" marL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 Handlungsfeld, einschließlich vorbereitender Arbeiten.</a:t>
            </a:r>
            <a:pPr indent="0" marL="0">
              <a:lnSpc>
                <a:spcPts val="2000"/>
              </a:lnSpc>
              <a:spcAft>
                <a:spcPts val="700"/>
              </a:spcAft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300" b="1" dirty="0">
                <a:solidFill>
                  <a:srgbClr val="F5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Priorisierung</a:t>
            </a:r>
            <a:pPr indent="0" marL="0">
              <a:lnSpc>
                <a:spcPts val="2000"/>
              </a:lnSpc>
              <a:spcAft>
                <a:spcPts val="700"/>
              </a:spcAft>
              <a:buNone/>
            </a:pPr>
            <a:r>
              <a:rPr lang="en-US" sz="13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der Anwendungsfälle nach Nutzen, Aufwand, Risiko und Reife.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43484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Einführungspreis gültig für Anfragen bis 31.12.2026, danach 699 €. Netto zzgl. 19 % MwSt. Der Umfang wird vorab gemeinsam festgelegt und schriftlich festgehalten.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B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835640" y="29260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26F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6949440" y="0"/>
            <a:ext cx="5212080" cy="68580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02920" y="5029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26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86868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FBD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Sprechen wir über Ihre Abläufe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2286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26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ANSPRECHPARTNER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Tino Schneider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3703320" y="2286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26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370332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mail@nurovelle.de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3429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26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502920" y="3703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06421 8097347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3703320" y="342900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926F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3703320" y="3703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nurovelle.de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502920" y="5120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3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Nurovelle · Berliner Straße 12 · 35039 Marburg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Nurovelle Unternehmenspräsentation</dc:title>
  <dc:subject>PptxGenJS Presentation</dc:subject>
  <dc:creator>Nurovelle</dc:creator>
  <cp:lastModifiedBy>Nurovelle</cp:lastModifiedBy>
  <cp:revision>1</cp:revision>
  <dcterms:created xsi:type="dcterms:W3CDTF">2026-09-01T13:22:18Z</dcterms:created>
  <dcterms:modified xsi:type="dcterms:W3CDTF">2026-09-01T13:22:18Z</dcterms:modified>
</cp:coreProperties>
</file>